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9728" cy="4114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SYSTEM ARCHITECTURE &amp; TECHNICAL SPECIFICATION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Multi-Modal Emotion Recognition Platform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A Production-Grade, Local-Only Affective Computing Platform Integrating RoBERTa NLP, 2D CNN Speech Acoustics, AlexNet Vision, Confidence-Aware Late Fusion, FastAPI, and React 19</a:t>
            </a:r>
          </a:p>
          <a:p>
            <a:pPr>
              <a:spcBef>
                <a:spcPts val="2800"/>
              </a:spcBef>
            </a:pPr>
            <a:r>
              <a:rPr sz="1000" b="1">
                <a:solidFill>
                  <a:srgbClr val="2563EB"/>
                </a:solidFill>
                <a:latin typeface="Consolas"/>
              </a:rPr>
              <a:t>[ ZERO FAKE AI POLICY ]   </a:t>
            </a:r>
            <a:r>
              <a:rPr sz="1000" b="1">
                <a:solidFill>
                  <a:srgbClr val="2563EB"/>
                </a:solidFill>
                <a:latin typeface="Consolas"/>
              </a:rPr>
              <a:t>[ 100% LOCALHOST PRIVACY ]   </a:t>
            </a:r>
            <a:r>
              <a:rPr sz="1000" b="1">
                <a:solidFill>
                  <a:srgbClr val="2563EB"/>
                </a:solidFill>
                <a:latin typeface="Consolas"/>
              </a:rPr>
              <a:t>[ CONFIDENCE-AWARE FUSION ]   </a:t>
            </a:r>
            <a:r>
              <a:rPr sz="1000" b="1">
                <a:solidFill>
                  <a:srgbClr val="2563EB"/>
                </a:solidFill>
                <a:latin typeface="Consolas"/>
              </a:rPr>
              <a:t>[ 21/21 TESTS PASSING ]   </a:t>
            </a:r>
          </a:p>
          <a:p>
            <a:pPr>
              <a:spcBef>
                <a:spcPts val="20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Version 1.0.0 (Production)  |  FastAPI + PyTorch 2.4 + React 19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Affective Computing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Understanding complex human emotional states across non-synchronous sensory modalities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1. Executive Summary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The Multi-Modal Emotion Problem</a:t>
            </a:r>
            <a:r>
              <a:rPr sz="1000" b="1">
                <a:solidFill>
                  <a:srgbClr val="0F172A"/>
                </a:solidFill>
                <a:latin typeface="Arial"/>
              </a:rPr>
              <a:t>Asynchronous Signals: </a:t>
            </a:r>
            <a:r>
              <a:rPr sz="1000">
                <a:solidFill>
                  <a:srgbClr val="334155"/>
                </a:solidFill>
                <a:latin typeface="Arial"/>
              </a:rPr>
              <a:t>Human emotions manifest across voice tremors, facial expressions, and vocabulary at differing time horizons.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Channel Discordance: </a:t>
            </a:r>
            <a:r>
              <a:rPr sz="1000">
                <a:solidFill>
                  <a:srgbClr val="334155"/>
                </a:solidFill>
                <a:latin typeface="Arial"/>
              </a:rPr>
              <a:t>Sarcasm, social politeness, and emotional masking frequently produce opposing cues between text and vision.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Noisy Sensor Inputs: </a:t>
            </a:r>
            <a:r>
              <a:rPr sz="1000">
                <a:solidFill>
                  <a:srgbClr val="334155"/>
                </a:solidFill>
                <a:latin typeface="Arial"/>
              </a:rPr>
              <a:t>Microphones capture room reverberation; webcams suffer from lighting shifts, head poses, and occlusion.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Scientific Need: </a:t>
            </a:r>
            <a:r>
              <a:rPr sz="1000">
                <a:solidFill>
                  <a:srgbClr val="334155"/>
                </a:solidFill>
                <a:latin typeface="Arial"/>
              </a:rPr>
              <a:t>Requires principled mathematical decision fusion rather than simplistic majority voting or heuristic guessing.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The ERM Architectural Solution</a:t>
            </a:r>
            <a:r>
              <a:rPr sz="1000" b="1">
                <a:solidFill>
                  <a:srgbClr val="0F172A"/>
                </a:solidFill>
                <a:latin typeface="Arial"/>
              </a:rPr>
              <a:t>Independent Deep Ensembles: </a:t>
            </a:r>
            <a:r>
              <a:rPr sz="1000">
                <a:solidFill>
                  <a:srgbClr val="334155"/>
                </a:solidFill>
                <a:latin typeface="Arial"/>
              </a:rPr>
              <a:t>Fine-tuned RoBERTa for text, 2D CNN acoustic model on MFCCs, and AlexNet for facial landmarks.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Universal Ekman Ontology: </a:t>
            </a:r>
            <a:r>
              <a:rPr sz="1000">
                <a:solidFill>
                  <a:srgbClr val="334155"/>
                </a:solidFill>
                <a:latin typeface="Arial"/>
              </a:rPr>
              <a:t>Standardizes all disparate outputs onto canonical 7-class schema with 2D Circumplex coordinates.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Confidence-Aware Fusion: </a:t>
            </a:r>
            <a:r>
              <a:rPr sz="1000">
                <a:solidFill>
                  <a:srgbClr val="334155"/>
                </a:solidFill>
                <a:latin typeface="Arial"/>
              </a:rPr>
              <a:t>Weights each active channel dynamically by its neural softmax certainty, calculating inter-modal concordance.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Edge-First Deployment: </a:t>
            </a:r>
            <a:r>
              <a:rPr sz="1000">
                <a:solidFill>
                  <a:srgbClr val="334155"/>
                </a:solidFill>
                <a:latin typeface="Arial"/>
              </a:rPr>
              <a:t>100% offline inference on 127.0.0.1 with zero cloud latency and zero privacy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30368"/>
            <a:ext cx="219456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rial"/>
              </a:defRPr>
            </a:pPr>
            <a:r>
              <a:t>3 Modalities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Text, Audio, Vision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Arial"/>
              </a:defRPr>
            </a:pPr>
            <a:r>
              <a:t>Native neural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512064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230368"/>
            <a:ext cx="219456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rial"/>
              </a:defRPr>
            </a:pPr>
            <a:r>
              <a:t>7 Emotions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Canonical Ekman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Arial"/>
              </a:defRPr>
            </a:pPr>
            <a:r>
              <a:t>Universal ontology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12064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5230368"/>
            <a:ext cx="219456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rial"/>
              </a:defRPr>
            </a:pPr>
            <a:r>
              <a:t>100% Local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Zero Cloud APIs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Arial"/>
              </a:defRPr>
            </a:pPr>
            <a:r>
              <a:t>Strict edge privacy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512064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5230368"/>
            <a:ext cx="2194560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  <a:latin typeface="Arial"/>
              </a:defRPr>
            </a:pPr>
            <a:r>
              <a:t>21 / 21 Tests</a:t>
            </a:r>
          </a:p>
          <a:p>
            <a:pPr>
              <a:spcBef>
                <a:spcPts val="2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PyTest Suite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  <a:latin typeface="Arial"/>
              </a:defRPr>
            </a:pPr>
            <a:r>
              <a:t>Full QA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Core Operating Principle: Strict Zero Fake AI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Absolute transparency and genuine neural inference without heuristics or simulated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1. Executive Summary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1. 100% Genuine Forward Passes</a:t>
            </a:r>
            <a:r>
              <a:rPr sz="1000" b="1">
                <a:solidFill>
                  <a:srgbClr val="0F172A"/>
                </a:solidFill>
                <a:latin typeface="Arial"/>
              </a:rPr>
              <a:t>No Synthetic Heuristics: </a:t>
            </a:r>
            <a:r>
              <a:rPr sz="1000">
                <a:solidFill>
                  <a:srgbClr val="334155"/>
                </a:solidFill>
                <a:latin typeface="Arial"/>
              </a:rPr>
              <a:t>Every prediction originates exclusively from deep neural network tensor operations (PyTorch/Transformers).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No Mocked Distributions: </a:t>
            </a:r>
            <a:r>
              <a:rPr sz="1000">
                <a:solidFill>
                  <a:srgbClr val="334155"/>
                </a:solidFill>
                <a:latin typeface="Arial"/>
              </a:rPr>
              <a:t>Refuses to output pseudo-random numbers or hard-coded uniform vectors.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Real Compute: </a:t>
            </a:r>
            <a:r>
              <a:rPr sz="1000">
                <a:solidFill>
                  <a:srgbClr val="334155"/>
                </a:solidFill>
                <a:latin typeface="Arial"/>
              </a:rPr>
              <a:t>Executes real transformer attention matrices, 2D convolutions, and Softmax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2. Transparent Failure Signaling</a:t>
            </a:r>
            <a:r>
              <a:rPr sz="1000" b="1">
                <a:solidFill>
                  <a:srgbClr val="0F172A"/>
                </a:solidFill>
                <a:latin typeface="Arial"/>
              </a:rPr>
              <a:t>Honest Error Gating: </a:t>
            </a:r>
            <a:r>
              <a:rPr sz="1000">
                <a:solidFill>
                  <a:srgbClr val="334155"/>
                </a:solidFill>
                <a:latin typeface="Arial"/>
              </a:rPr>
              <a:t>If model weights are missing or unreadable, the system marks the modality available=False.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Explicit Status Messages: </a:t>
            </a:r>
            <a:r>
              <a:rPr sz="1000">
                <a:solidFill>
                  <a:srgbClr val="334155"/>
                </a:solidFill>
                <a:latin typeface="Arial"/>
              </a:rPr>
              <a:t>Returns descriptive blocked messages (e.g. 'VISION INFERENCE BLOCKED — WEIGHTS MISSING').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Zero Silent Fallbacks: </a:t>
            </a:r>
            <a:r>
              <a:rPr sz="1000">
                <a:solidFill>
                  <a:srgbClr val="334155"/>
                </a:solidFill>
                <a:latin typeface="Arial"/>
              </a:rPr>
              <a:t>Never silently substitutes mock classifications when an engine fails.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16A34A"/>
                </a:solidFill>
                <a:latin typeface="Arial"/>
              </a:defRPr>
            </a:pPr>
            <a:r>
              <a:t>3. Zero-Mass Invariant Gating</a:t>
            </a:r>
            <a:r>
              <a:rPr sz="1000" b="1">
                <a:solidFill>
                  <a:srgbClr val="0F172A"/>
                </a:solidFill>
                <a:latin typeface="Arial"/>
              </a:rPr>
              <a:t>Speech Model Scope: </a:t>
            </a:r>
            <a:r>
              <a:rPr sz="1000">
                <a:solidFill>
                  <a:srgbClr val="334155"/>
                </a:solidFill>
                <a:latin typeface="Arial"/>
              </a:rPr>
              <a:t>The 2D CNN acoustic model natively predicts 4 emotions (neutral, angry, happy, sad).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Strict 0.0000 Assignment: </a:t>
            </a:r>
            <a:r>
              <a:rPr sz="1000">
                <a:solidFill>
                  <a:srgbClr val="334155"/>
                </a:solidFill>
                <a:latin typeface="Arial"/>
              </a:rPr>
              <a:t>Unsupported classes (disgust, fear, surprise) receive strictly zero probability mass.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No Smoothing Artifacts: </a:t>
            </a:r>
            <a:r>
              <a:rPr sz="1000">
                <a:solidFill>
                  <a:srgbClr val="334155"/>
                </a:solidFill>
                <a:latin typeface="Arial"/>
              </a:rPr>
              <a:t>Never artificially injects uniform probabilities into unpredicted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4. Confidence as Evidence Prior</a:t>
            </a:r>
            <a:r>
              <a:rPr sz="1000" b="1">
                <a:solidFill>
                  <a:srgbClr val="0F172A"/>
                </a:solidFill>
                <a:latin typeface="Arial"/>
              </a:rPr>
              <a:t>Epistemic Uncertainty: </a:t>
            </a:r>
            <a:r>
              <a:rPr sz="1000">
                <a:solidFill>
                  <a:srgbClr val="334155"/>
                </a:solidFill>
                <a:latin typeface="Arial"/>
              </a:rPr>
              <a:t>Softmax certainty reflects neural pattern alignment, acting as a dynamic weighting prior.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Non-Diagnostic Boundary: </a:t>
            </a:r>
            <a:r>
              <a:rPr sz="1000">
                <a:solidFill>
                  <a:srgbClr val="334155"/>
                </a:solidFill>
                <a:latin typeface="Arial"/>
              </a:rPr>
              <a:t>Explicitly rejected as clinical diagnosis, psychological ground truth, or lie detection.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Objective Attribution: </a:t>
            </a:r>
            <a:r>
              <a:rPr sz="1000">
                <a:solidFill>
                  <a:srgbClr val="334155"/>
                </a:solidFill>
                <a:latin typeface="Arial"/>
              </a:rPr>
              <a:t>Confidence modulates fusion influence without making unsupported assertions.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2.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End-to-End System Topology &amp; Layered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Decoupled 4-tier pipeline coordinating ingestion, deep ensembles, fusion math, and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2. System Architecture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Layer 1: Ingestion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Multipart/Form-Data Parser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MIME &amp; File Extension Checks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Payload Limits: 25MB Audio, 10MB Image, 1000 Chars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Ephemeral OS Temp Files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Automatic Unlinking in Finally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78308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Layer 2: Neural Ensembles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Text: DistilRoBERTa-base (~82M parameters, 6 layers)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Audio: 4-Layer 2D CNN (39-channel MFCC spectrograms)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Vision: AlexNet 7-Class + Multi-Pass Haar Cascades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Parallel Model Execution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Isolated ModalityResult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78308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Layer 3: Ontology &amp; Fusion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Ekman 7-Class Normalization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Russell 2D Circumplex Mapping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Modality Availability Gating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Confidence Weight: w_m = W_m*C_m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Cosine Concordance &amp; Conflict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Explainability Report Generator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78308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Layer 4: Presentation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FastAPI Async REST Service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React 19 + Vite Web Dashboard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Web Audio API Real-Time FFT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live_face.py OpenCV Native HUD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live_audio.py Mic Terminal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live_text.py Interactive REPL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3. EMOTION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Canonical Emotion Ontology &amp; 7-Class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Unifying disparate dataset vocabularies onto the standardized Ekman affective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3. Emotion Ontology  |  Technical Architecture Manual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108960"/>
                <a:gridCol w="3108960"/>
                <a:gridCol w="3139135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Canonical Emotion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Facial Action Cues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Acoustic / Prosodic Markers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Linguistic / Text Patterns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happy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Lip corner pull (AU12), cheek raise (AU6), crow's feet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Elevated pitch, pitch variance, bright timbre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delighted, joyful, thrilled, celebration, amazing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surprise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Brow raise (AU1+2), upper lid raise (AU5), jaw drop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Sudden fundamental pitch jump, sharp energy attack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unexpected, stunned, amazed, astonished, what!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Relaxed facial muscles, mouth closed, unwrinkled brow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Moderate speech rate, stable pitch, balanced cadence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factual statements, reports, informative, balanced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disgust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Nose wrinkle (AU9), upper lip raise (AU10), narrowed eyes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Guttural phonation, lower pitch, vocal fry, brief pauses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revolting, gross, sickening, awful, distasteful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angry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Brow lowerer (AU4), upper lid raise, lip tightener (AU23)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 acoustic intensity (RMS), accelerated rate, harsh timbre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furious, outrage, hate, intolerable, frustrated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fear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Brow raise and knit (AU1+2+4), eye widen (AU5), tense lips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 pitch, vocal jitter, tremor, breathiness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terrified, panicking, dread, frightened, dangerous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Inner brow raise (AU1), brow lower (AU4), lip corner depressor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Muffled acoustic energy, low pitch, extended pauses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devastated, heartbroken, lonely, hopeless, sorrow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3. EMOTION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Russell's 2D Circumplex Model of Affect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Mapping discrete emotional states into continuous Valence-Arousal dimensional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3. Emotion Ontology  |  Technical Architecture Manual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669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2286000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Emotion Class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Valence (V)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Arousal (A)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Circumplex Quadrant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happy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+0.85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+0.60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Q1: High Valence, High Arousal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surprise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+0.25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+0.85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Q1: Mild Valence, Peak Arousal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 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 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Origin: Emotional Equilibrium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disgust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-0.60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Q2: Low Valence, Mild Arousal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angry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-0.65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+0.80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Q2: Low Valence, Peak Arousal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fear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-0.70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+0.75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Q2: Lowest Valence, High Arousal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Q3: Lowest Valence, Low Arousal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1645920"/>
            <a:ext cx="47850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4192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Mathematical Formulation</a:t>
            </a:r>
            <a:r>
              <a:rPr sz="1000" b="1">
                <a:solidFill>
                  <a:srgbClr val="0F172A"/>
                </a:solidFill>
                <a:latin typeface="Arial"/>
              </a:rPr>
              <a:t>Valence Dimension (V): </a:t>
            </a:r>
            <a:r>
              <a:rPr sz="1000">
                <a:solidFill>
                  <a:srgbClr val="334155"/>
                </a:solidFill>
                <a:latin typeface="Arial"/>
              </a:rPr>
              <a:t>Quantifies psychological pleasure vs displeasure on a continuous scale from -1.0 (severe aversion) to +1.0 (peak joy).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Arousal Dimension (A): </a:t>
            </a:r>
            <a:r>
              <a:rPr sz="1000">
                <a:solidFill>
                  <a:srgbClr val="334155"/>
                </a:solidFill>
                <a:latin typeface="Arial"/>
              </a:rPr>
              <a:t>Quantifies neurophysiological activation from -1.0 (lethargy, sleepiness) to +1.0 (intense fight-or-flight mobilization).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Expectation Equations: </a:t>
            </a:r>
            <a:r>
              <a:rPr sz="1000">
                <a:solidFill>
                  <a:srgbClr val="334155"/>
                </a:solidFill>
                <a:latin typeface="Arial"/>
              </a:rPr>
              <a:t>Aggregate coordinates are computed as the expected value over the 7-class probability vector P:</a:t>
            </a:r>
          </a:p>
          <a:p>
            <a:br/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  V_aggregate = Σ P(e) · Valence(e)</a:t>
            </a:r>
            <a:br/>
            <a:r>
              <a:t>  A_aggregate = Σ P(e) · Arousal(e)</a:t>
            </a:r>
          </a:p>
          <a:p>
            <a:br/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Enables direct spatial visualization on the React frontend 2D Circumplex canvas.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3. EMOTION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Cross-Dataset Label Mapping &amp; Fidelity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Preserving semantic fidelity across disparate academic datasets with strict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3. Emotion Ontology  |  Technical Architecture Manual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286000"/>
                <a:gridCol w="1920240"/>
                <a:gridCol w="1645920"/>
                <a:gridCol w="2956255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Source Dataset / Domain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Raw Label Input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Canonical Ekman Target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Mapping Fidelity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Fidelity Definition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German Emo-DB (Speech)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wut, freude, trauer, angst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angry, happy, sad, fear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Exact 1-to-1 semantic equivalence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German Emo-DB (Speech)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langeweile (boredom)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APPROXIMATE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Nuance shift toward low-arousal baseline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Polish Speech Dataset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an, di, fe, ha, ne, sa, su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angry, disgust, fear, happy...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Standardized two-letter abbreviations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RAVDESS Video Frames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01 (neutral), 03 (happy), 05 (angry)...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neutral, happy, angry...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(100%)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Official RAVDESS emotional index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RAVDESS Video Frames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02 (calm)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APPROXIMATE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Calm collapsed into neutral (original design)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Twitter / BERT Lexicons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love, optimism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happy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APPROXIMATE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Positive high-valence affect mapping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Twitter / BERT Lexicons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LOSSY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Broad reduction of interpersonal nuance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4. MODALITY ENGINE: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Text Modality Engine: DistilRoBERTa Sequence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Deep linguistic emotion recognition via distilled transformer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4. Modality Engine: Text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Transformer Architecture</a:t>
            </a:r>
            <a:r>
              <a:rPr sz="1000" b="1">
                <a:solidFill>
                  <a:srgbClr val="0F172A"/>
                </a:solidFill>
                <a:latin typeface="Arial"/>
              </a:rPr>
              <a:t>Backbone: </a:t>
            </a:r>
            <a:r>
              <a:rPr sz="1000">
                <a:solidFill>
                  <a:srgbClr val="334155"/>
                </a:solidFill>
                <a:latin typeface="Arial"/>
              </a:rPr>
              <a:t>j-hartmann/emotion-english-distilroberta-base (~82M parameters).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Design: </a:t>
            </a:r>
            <a:r>
              <a:rPr sz="1000">
                <a:solidFill>
                  <a:srgbClr val="334155"/>
                </a:solidFill>
                <a:latin typeface="Arial"/>
              </a:rPr>
              <a:t>6 Transformer encoder layers, 768 hidden units, 12 attention heads.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Head: </a:t>
            </a:r>
            <a:r>
              <a:rPr sz="1000">
                <a:solidFill>
                  <a:srgbClr val="334155"/>
                </a:solidFill>
                <a:latin typeface="Arial"/>
              </a:rPr>
              <a:t>Linear classification head over [CLS] token pooling into 7 emotion logits.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Latency: </a:t>
            </a:r>
            <a:r>
              <a:rPr sz="1000">
                <a:solidFill>
                  <a:srgbClr val="334155"/>
                </a:solidFill>
                <a:latin typeface="Arial"/>
              </a:rPr>
              <a:t>15–35 ms on modern x86 CPU; ~4 ms on local CUDA GPU.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Preprocessing Pipeline</a:t>
            </a:r>
            <a:r>
              <a:rPr sz="1000" b="1">
                <a:solidFill>
                  <a:srgbClr val="0F172A"/>
                </a:solidFill>
                <a:latin typeface="Arial"/>
              </a:rPr>
              <a:t>Cleaning: </a:t>
            </a:r>
            <a:r>
              <a:rPr sz="1000">
                <a:solidFill>
                  <a:srgbClr val="334155"/>
                </a:solidFill>
                <a:latin typeface="Arial"/>
              </a:rPr>
              <a:t>Regex removal of URLs, email addresses, and Twitter user mentions.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Emoji Preservation: </a:t>
            </a:r>
            <a:r>
              <a:rPr sz="1000">
                <a:solidFill>
                  <a:srgbClr val="334155"/>
                </a:solidFill>
                <a:latin typeface="Arial"/>
              </a:rPr>
              <a:t>Retains and processes emotional emojis expressing sentiment intensity.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Length Boundary: </a:t>
            </a:r>
            <a:r>
              <a:rPr sz="1000">
                <a:solidFill>
                  <a:srgbClr val="334155"/>
                </a:solidFill>
                <a:latin typeface="Arial"/>
              </a:rPr>
              <a:t>Hard cap at 512 characters to prevent buffer overflow attacks.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Salient Keywords: </a:t>
            </a:r>
            <a:r>
              <a:rPr sz="1000">
                <a:solidFill>
                  <a:srgbClr val="334155"/>
                </a:solidFill>
                <a:latin typeface="Arial"/>
              </a:rPr>
              <a:t>Extracts salient emotional tokens (e.g. 'thrilled', 'hopeless').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Output Schema &amp; Telemetry</a:t>
            </a:r>
            <a:r>
              <a:rPr sz="1000" b="1">
                <a:solidFill>
                  <a:srgbClr val="0F172A"/>
                </a:solidFill>
                <a:latin typeface="Arial"/>
              </a:rPr>
              <a:t>Schema: </a:t>
            </a:r>
            <a:r>
              <a:rPr sz="1000">
                <a:solidFill>
                  <a:srgbClr val="334155"/>
                </a:solidFill>
                <a:latin typeface="Arial"/>
              </a:rPr>
              <a:t>Returns standardized ModalityResult Pydantic contract.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Distribution: </a:t>
            </a:r>
            <a:r>
              <a:rPr sz="1000">
                <a:solidFill>
                  <a:srgbClr val="334155"/>
                </a:solidFill>
                <a:latin typeface="Arial"/>
              </a:rPr>
              <a:t>Softmax probabilities across all 7 Ekman core classes.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Circumplex: </a:t>
            </a:r>
            <a:r>
              <a:rPr sz="1000">
                <a:solidFill>
                  <a:srgbClr val="334155"/>
                </a:solidFill>
                <a:latin typeface="Arial"/>
              </a:rPr>
              <a:t>Expected Valence and Arousal coordinates.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Explainability: </a:t>
            </a:r>
            <a:r>
              <a:rPr sz="1000">
                <a:solidFill>
                  <a:srgbClr val="334155"/>
                </a:solidFill>
                <a:latin typeface="Arial"/>
              </a:rPr>
              <a:t>Provides word count and extracted affective keywords in metadata.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5. MODALITY ENGINE: 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Acoustic Feature Extraction: 39-Channel MFCC Spectrograms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Linguistic-independent acoustic feature engineering capturing vocal tract and prosodic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5. Modality Engine: Speech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Signal Preprocessing &amp; Normalization</a:t>
            </a:r>
            <a:r>
              <a:rPr sz="1000" b="1">
                <a:solidFill>
                  <a:srgbClr val="0F172A"/>
                </a:solidFill>
                <a:latin typeface="Arial"/>
              </a:rPr>
              <a:t>Sampling Rate: </a:t>
            </a:r>
            <a:r>
              <a:rPr sz="1000">
                <a:solidFill>
                  <a:srgbClr val="334155"/>
                </a:solidFill>
                <a:latin typeface="Arial"/>
              </a:rPr>
              <a:t>Standardized to 16,000 Hz single-channel (mono) 16-bit PCM.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Multi-Channel Downmixing: </a:t>
            </a:r>
            <a:r>
              <a:rPr sz="1000">
                <a:solidFill>
                  <a:srgbClr val="334155"/>
                </a:solidFill>
                <a:latin typeface="Arial"/>
              </a:rPr>
              <a:t>Stereo or multi-channel audio is averaged across channels: sig = np.mean(sig, axis=1).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Fixed Temporal Window: </a:t>
            </a:r>
            <a:r>
              <a:rPr sz="1000">
                <a:solidFill>
                  <a:srgbClr val="334155"/>
                </a:solidFill>
                <a:latin typeface="Arial"/>
              </a:rPr>
              <a:t>Calibrated to 2.0 seconds (32,000 samples). Shorter signals are zero-padded; longer signals are centrally cropped.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Signal Bounds: </a:t>
            </a:r>
            <a:r>
              <a:rPr sz="1000">
                <a:solidFill>
                  <a:srgbClr val="334155"/>
                </a:solidFill>
                <a:latin typeface="Arial"/>
              </a:rPr>
              <a:t>Float audio is clipped to [-1.0, 1.0] and converted to integer int16 scaling.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39 MFCC Spectrograms &amp; Acoustic Descriptors</a:t>
            </a:r>
            <a:r>
              <a:rPr sz="1000" b="1">
                <a:solidFill>
                  <a:srgbClr val="0F172A"/>
                </a:solidFill>
                <a:latin typeface="Arial"/>
              </a:rPr>
              <a:t>13 Static MFCCs: </a:t>
            </a:r>
            <a:r>
              <a:rPr sz="1000">
                <a:solidFill>
                  <a:srgbClr val="334155"/>
                </a:solidFill>
                <a:latin typeface="Arial"/>
              </a:rPr>
              <a:t>Captures spectral envelope and vocal tract filter resonances.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13 Delta Coefficients: </a:t>
            </a:r>
            <a:r>
              <a:rPr sz="1000">
                <a:solidFill>
                  <a:srgbClr val="334155"/>
                </a:solidFill>
                <a:latin typeface="Arial"/>
              </a:rPr>
              <a:t>Captures first-order velocity of spectral trajectory over time.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13 Delta-Delta Coefficients: </a:t>
            </a:r>
            <a:r>
              <a:rPr sz="1000">
                <a:solidFill>
                  <a:srgbClr val="334155"/>
                </a:solidFill>
                <a:latin typeface="Arial"/>
              </a:rPr>
              <a:t>Captures second-order acceleration of spectral transitions.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Temporal Resolution: </a:t>
            </a:r>
            <a:r>
              <a:rPr sz="1000">
                <a:solidFill>
                  <a:srgbClr val="334155"/>
                </a:solidFill>
                <a:latin typeface="Arial"/>
              </a:rPr>
              <a:t>Yields an input feature tensor of shape (1, 198, 39) across 198 time frames.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Acoustic Metadata: </a:t>
            </a:r>
            <a:r>
              <a:rPr sz="1000">
                <a:solidFill>
                  <a:srgbClr val="334155"/>
                </a:solidFill>
                <a:latin typeface="Arial"/>
              </a:rPr>
              <a:t>Computes RMS energy, zero-crossing rate (ZCR), and pitch autocorrelation for explainability.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5. MODALITY ENGINE: 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PyTorch 2D CNN Acoustic Architecture (Zero TensorFlow)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Eliminating TensorFlow runtime bloat through native PyTorch layer reconstruction and HDF5 weight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5. Modality Engine: Speech  |  Technical Architecture Manual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2011680"/>
                <a:gridCol w="1097280"/>
                <a:gridCol w="3687775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PyTorch Equivalent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Kernel / Stride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Activation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 Shape (B, C, H, W)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Conv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nn.Conv2d(1, 8) + BatchNorm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13x13, stride (1,1)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ReLU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(B, 8, 186, 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Conv 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nn.Conv2d(8, 8) + BatchNorm + MaxPool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13x13 + Pool(2,1)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ReLU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(B, 8, 87, 15)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Conv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nn.Conv2d(8, 8) + BatchNorm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13x13, stride (1,1)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ReLU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(B, 8, 75, 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Conv 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nn.Conv2d(8, 8) + BatchNorm + MaxPool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2x2 + Pool(2,1)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ReLU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(B, 8, 37, 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Flatten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x.permute(0, 2, 3, 1).contiguous().view()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Replicates Keras memory layout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(B, 592)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Dense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nn.Linear(592, 64) + BatchNorm + Dropout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592 in -&gt; 64 out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ReLU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(B, 64)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Dense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nn.Linear(64, 4) + Softmax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64 in -&gt; 4 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Softmax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(B, 4) [neutral, angry, happy, sad]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6. MODALITY ENGINE: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Multi-Pass OpenCV Haar Cascade Face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Robust facial region-of-interest extraction compensating for illumination, tilt, and 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6. Modality Engine: Vision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Pass 1: Frontal Default Cascade</a:t>
            </a:r>
            <a:r>
              <a:rPr sz="1000" b="1">
                <a:solidFill>
                  <a:srgbClr val="0F172A"/>
                </a:solidFill>
                <a:latin typeface="Arial"/>
              </a:rPr>
              <a:t>Classifier: </a:t>
            </a:r>
            <a:r>
              <a:rPr sz="1000">
                <a:solidFill>
                  <a:srgbClr val="334155"/>
                </a:solidFill>
                <a:latin typeface="Arial"/>
              </a:rPr>
              <a:t>haarcascade_frontalface_default.xml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Parameters: </a:t>
            </a:r>
            <a:r>
              <a:rPr sz="1000">
                <a:solidFill>
                  <a:srgbClr val="334155"/>
                </a:solidFill>
                <a:latin typeface="Arial"/>
              </a:rPr>
              <a:t>scaleFactor=1.1, minNeighbors=4, minSize=(40, 40)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Role: </a:t>
            </a:r>
            <a:r>
              <a:rPr sz="1000">
                <a:solidFill>
                  <a:srgbClr val="334155"/>
                </a:solidFill>
                <a:latin typeface="Arial"/>
              </a:rPr>
              <a:t>Rapidly detects clear, high-contrast frontal faces under standard studio or ambient lighting.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Latency: </a:t>
            </a:r>
            <a:r>
              <a:rPr sz="1000">
                <a:solidFill>
                  <a:srgbClr val="334155"/>
                </a:solidFill>
                <a:latin typeface="Arial"/>
              </a:rPr>
              <a:t>~8 ms per frame on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Pass 2: CLAHE Contrast Recovery</a:t>
            </a:r>
            <a:r>
              <a:rPr sz="1000" b="1">
                <a:solidFill>
                  <a:srgbClr val="0F172A"/>
                </a:solidFill>
                <a:latin typeface="Arial"/>
              </a:rPr>
              <a:t>Preprocessing: </a:t>
            </a:r>
            <a:r>
              <a:rPr sz="1000">
                <a:solidFill>
                  <a:srgbClr val="334155"/>
                </a:solidFill>
                <a:latin typeface="Arial"/>
              </a:rPr>
              <a:t>Converts image to grayscale + cv2.equalizeHist contrast normalization.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Role: </a:t>
            </a:r>
            <a:r>
              <a:rPr sz="1000">
                <a:solidFill>
                  <a:srgbClr val="334155"/>
                </a:solidFill>
                <a:latin typeface="Arial"/>
              </a:rPr>
              <a:t>Recovers facial features in dimly lit environments, heavy side-shadows, or back-lit cameras.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Robustness: </a:t>
            </a:r>
            <a:r>
              <a:rPr sz="1000">
                <a:solidFill>
                  <a:srgbClr val="334155"/>
                </a:solidFill>
                <a:latin typeface="Arial"/>
              </a:rPr>
              <a:t>Prevents dropped detections when subject moves away from direct light.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Pass 3: Alt2 Frontal Cascade</a:t>
            </a:r>
            <a:r>
              <a:rPr sz="1000" b="1">
                <a:solidFill>
                  <a:srgbClr val="0F172A"/>
                </a:solidFill>
                <a:latin typeface="Arial"/>
              </a:rPr>
              <a:t>Classifier: </a:t>
            </a:r>
            <a:r>
              <a:rPr sz="1000">
                <a:solidFill>
                  <a:srgbClr val="334155"/>
                </a:solidFill>
                <a:latin typeface="Arial"/>
              </a:rPr>
              <a:t>haarcascade_frontalface_alt2.xml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Role: </a:t>
            </a:r>
            <a:r>
              <a:rPr sz="1000">
                <a:solidFill>
                  <a:srgbClr val="334155"/>
                </a:solidFill>
                <a:latin typeface="Arial"/>
              </a:rPr>
              <a:t>Tuned specifically for angled heads, slight profiles, tilted faces, and non-rigid expressions.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Crop Bounding: </a:t>
            </a:r>
            <a:r>
              <a:rPr sz="1000">
                <a:solidFill>
                  <a:srgbClr val="334155"/>
                </a:solidFill>
                <a:latin typeface="Arial"/>
              </a:rPr>
              <a:t>Expands detected face box by 10% and normalizes to 224x224 RGB tensor.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6. MODALITY ENGINE: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AlexNet Deep Neural Vision Architecture &amp; Live HUD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7-Class convolutional neural network with decoupled real-time webcam frame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6. Modality Engine: Vision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AlexNet 7-Class Deep CNN Backbone</a:t>
            </a:r>
            <a:r>
              <a:rPr sz="1000" b="1">
                <a:solidFill>
                  <a:srgbClr val="0F172A"/>
                </a:solidFill>
                <a:latin typeface="Arial"/>
              </a:rPr>
              <a:t>Input Tensor: </a:t>
            </a:r>
            <a:r>
              <a:rPr sz="1000">
                <a:solidFill>
                  <a:srgbClr val="334155"/>
                </a:solidFill>
                <a:latin typeface="Arial"/>
              </a:rPr>
              <a:t>224x224x3 RGB image normalized with ImageNet stats (μ=[0.485, 0.456, 0.406], σ=[0.229, 0.224, 0.225]).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Feature Extractor: </a:t>
            </a:r>
            <a:r>
              <a:rPr sz="1000">
                <a:solidFill>
                  <a:srgbClr val="334155"/>
                </a:solidFill>
                <a:latin typeface="Arial"/>
              </a:rPr>
              <a:t>5 Convolutional layers with ReLU activations and MaxPool2D(3x3, stride 2).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Spatial Pooling: </a:t>
            </a:r>
            <a:r>
              <a:rPr sz="1000">
                <a:solidFill>
                  <a:srgbClr val="334155"/>
                </a:solidFill>
                <a:latin typeface="Arial"/>
              </a:rPr>
              <a:t>AdaptiveAvgPool2d((6, 6)) yielding a 9,216-dim spatial representation vector.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Classifier Head: </a:t>
            </a:r>
            <a:r>
              <a:rPr sz="1000">
                <a:solidFill>
                  <a:srgbClr val="334155"/>
                </a:solidFill>
                <a:latin typeface="Arial"/>
              </a:rPr>
              <a:t>Linear(9216-&gt;4096) -&gt; ReLU -&gt; Dropout(0.5) -&gt; Linear(4096-&gt;4096) -&gt; Linear(4096-&gt;7) -&gt; Softmax(dim=1).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Decoupled Live Webcam Architecture (live_face.py)</a:t>
            </a:r>
            <a:r>
              <a:rPr sz="1000" b="1">
                <a:solidFill>
                  <a:srgbClr val="0F172A"/>
                </a:solidFill>
                <a:latin typeface="Arial"/>
              </a:rPr>
              <a:t>Frame-Rate Decoupling: </a:t>
            </a:r>
            <a:r>
              <a:rPr sz="1000">
                <a:solidFill>
                  <a:srgbClr val="334155"/>
                </a:solidFill>
                <a:latin typeface="Arial"/>
              </a:rPr>
              <a:t>OpenCV camera capture and rendering runs at 30 FPS; neural inference is throttled to 3.5 FPS to prevent CPU core saturation.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Dynamic Bounding Box: </a:t>
            </a:r>
            <a:r>
              <a:rPr sz="1000">
                <a:solidFill>
                  <a:srgbClr val="334155"/>
                </a:solidFill>
                <a:latin typeface="Arial"/>
              </a:rPr>
              <a:t>Changes border color dynamically (Green for Happy, Red for Angry, Purple for Fear, Yellow for Surprise).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On-Screen HUD Meters: </a:t>
            </a:r>
            <a:r>
              <a:rPr sz="1000">
                <a:solidFill>
                  <a:srgbClr val="334155"/>
                </a:solidFill>
                <a:latin typeface="Arial"/>
              </a:rPr>
              <a:t>Renders live horizontal probability meters for all 7 Ekman classes directly on video frames.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Keyboard Telemetry: </a:t>
            </a:r>
            <a:r>
              <a:rPr sz="1000">
                <a:solidFill>
                  <a:srgbClr val="334155"/>
                </a:solidFill>
                <a:latin typeface="Arial"/>
              </a:rPr>
              <a:t>'q' to quit cleanly, 's' for snapshot capture, 'd' to toggle latency telemetry.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7. VISION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Vision Training Pipeline &amp; Zero 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Reproducing AlexNet on RAVDESS with 100% disjoint actor partitioning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7. Vision Training  |  Technical Architecture Manual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280160"/>
                <a:gridCol w="1188720"/>
                <a:gridCol w="1645920"/>
                <a:gridCol w="1280160"/>
                <a:gridCol w="2133295"/>
              </a:tblGrid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Emotion Category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Images (Actors 01-20)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Share (%)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Clips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Validation Images (Actors 21-24)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 Share (%)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 Clips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angry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1,778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14.06%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13.81%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disgust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1,812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14.33%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366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13.96%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1,623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12.83%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12.90%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happy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1,674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13.24%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12.67%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neutral (incl. calm)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2,510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19.85%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1,657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13.10%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371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14.15%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surprise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1,593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12.60%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12.17%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Total Clean Samples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12,647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1,200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2,621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7. VISION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Controlled Ablation Experiments &amp; Selected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Systematic evaluation of inverse-frequency class weighting across disjoint validation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7. Vision Training  |  Technical Architecture Manual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560320"/>
                <a:gridCol w="1280160"/>
                <a:gridCol w="1280160"/>
                <a:gridCol w="1218895"/>
              </a:tblGrid>
              <a:tr h="51206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Experiment Run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Loss Weight Strength (α)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Optimizer &amp; Schedule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Validation Accuracy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Macro-F1 Score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Correct / 2,621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Baseline Checkpoint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0.00 (Unweighted 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SGD (lr=0.016), StepLR, Frozen Conv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0.3258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980 / 2,621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Ablation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0.00 (Unweighted CE)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AdamW, Cosine Annealing, conv5 unfrozen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40.29%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0.3562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1,056 / 2,621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Ablation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0.25 (Mild Weighting)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AdamW, Cosine Annealing, conv5 unfrozen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41.70%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0.3912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1,093 / 2,621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Selected Production Checkpoint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0.50 (Inverse Frequency)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AdamW, Cosine Annealing, conv5 unfrozen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41.59%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0.3956 (BEST)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1,090 / 2,621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389120"/>
            <a:ext cx="10728655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Model Selection Rationale: Prioritizing Balanced Generalization over Raw Accuracy</a:t>
            </a:r>
            <a:r>
              <a:rPr sz="1000" b="1">
                <a:solidFill>
                  <a:srgbClr val="0F172A"/>
                </a:solidFill>
                <a:latin typeface="Arial"/>
              </a:rPr>
              <a:t>Macro-F1 Superiority: </a:t>
            </a:r>
            <a:r>
              <a:rPr sz="1000">
                <a:solidFill>
                  <a:srgbClr val="334155"/>
                </a:solidFill>
                <a:latin typeface="Arial"/>
              </a:rPr>
              <a:t>While weight strength 0.25 gained 3 additional correct frames (41.70% vs 41.59%), strength 0.50 produced the superior Macro-F1 score (0.3956 vs 0.3912).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Happy Class Discrimination: </a:t>
            </a:r>
            <a:r>
              <a:rPr sz="1000">
                <a:solidFill>
                  <a:srgbClr val="334155"/>
                </a:solidFill>
                <a:latin typeface="Arial"/>
              </a:rPr>
              <a:t>Weight strength 0.50 achieved significantly higher Happy F1 (0.5781 vs 0.5441) and recall (0.4849 vs 0.4578), drastically reducing neutral confusion.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Scientific Decision: </a:t>
            </a:r>
            <a:r>
              <a:rPr sz="1000">
                <a:solidFill>
                  <a:srgbClr val="334155"/>
                </a:solidFill>
                <a:latin typeface="Arial"/>
              </a:rPr>
              <a:t>The 0.50 checkpoint (model_image_new50.pth) was retained as the production checkpoint for vision inference.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7. VISION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Per-Class Evaluation Metrics &amp;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Honest quantitative evaluation across all 7 Ekman emotional classes on unseen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7. Vision Training  |  Technical Architecture Manual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486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Emotion Class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Precision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Selected Precision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Recall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Selected Recall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F1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Selected F1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angry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0.5545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0.6569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0.1685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0.1851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0.2585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disgust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0.5146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0.6372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0.2896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0.3934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0.3706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0.4865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0.4711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0.5120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0.3166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0.2484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0.3912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happy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0.6150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0.7156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0.4187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0.4849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0.4982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0.5781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neutral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0.3521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0.9381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0.8199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0.4927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0.2731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0.2806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0.1752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0.2534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0.2135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0.2663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surprise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0.2827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0.2508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0.2658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Macro Average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0.4356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0.4910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0.3317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0.3863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0.3258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0.3956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645920"/>
          <a:ext cx="496793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True \ Pred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angr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disg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happ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neut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sad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surp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angry (362)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disgust (366)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144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fear (338)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happy (332)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neutral (533)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sad (371)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surprise (319)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7. VISION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Empirical Diagnostic Analysis &amp; Visual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Deep dive into model confusion dynamics and dataset composition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7. Vision Training  |  Technical Architecture Manual</a:t>
            </a:r>
          </a:p>
        </p:txBody>
      </p:sp>
      <p:pic>
        <p:nvPicPr>
          <p:cNvPr id="6" name="Picture 5" descr="vision_happy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87593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645920"/>
            <a:ext cx="47850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419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Key Empirical Diagnostic Findings</a:t>
            </a:r>
            <a:r>
              <a:rPr sz="1000" b="1">
                <a:solidFill>
                  <a:srgbClr val="0F172A"/>
                </a:solidFill>
                <a:latin typeface="Arial"/>
              </a:rPr>
              <a:t>Neutral / Calm Over-Representation: </a:t>
            </a:r>
            <a:r>
              <a:rPr sz="1000">
                <a:solidFill>
                  <a:srgbClr val="334155"/>
                </a:solidFill>
                <a:latin typeface="Arial"/>
              </a:rPr>
              <a:t>Neutral combines RAVDESS code 01 (pure neutral) and code 02 (calm). Calm constitutes ~69% of neutral frames, pulling lower-intensity expressions toward neutral.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Disgust &amp; Happy Distinctiveness: </a:t>
            </a:r>
            <a:r>
              <a:rPr sz="1000">
                <a:solidFill>
                  <a:srgbClr val="334155"/>
                </a:solidFill>
                <a:latin typeface="Arial"/>
              </a:rPr>
              <a:t>Happy (F1=0.5781) and Disgust (F1=0.4865) achieve the highest discrimination due to pronounced morphological cues (smiling mouth, wrinkled nose).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Subtle Expression Confusion: </a:t>
            </a:r>
            <a:r>
              <a:rPr sz="1000">
                <a:solidFill>
                  <a:srgbClr val="334155"/>
                </a:solidFill>
                <a:latin typeface="Arial"/>
              </a:rPr>
              <a:t>Sadness and fear without exaggerated eye widening frequently register as low-arousal neutral across unfamiliar faces.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Controlled Domain Generalization: </a:t>
            </a:r>
            <a:r>
              <a:rPr sz="1000">
                <a:solidFill>
                  <a:srgbClr val="334155"/>
                </a:solidFill>
                <a:latin typeface="Arial"/>
              </a:rPr>
              <a:t>While laboratory accuracy is 41.59%, unconstrained webcam footage exhibits lighting variance, necessitating multi-pass face detection.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8. DECISION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Confidence-Aware Late Decision Fusion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Mathematical formulation for dynamically combining multi-modal probability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8. Decision Fusion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Mathematical Formulation</a:t>
            </a:r>
            <a:r>
              <a:rPr sz="1000" b="1">
                <a:solidFill>
                  <a:srgbClr val="0F172A"/>
                </a:solidFill>
                <a:latin typeface="Arial"/>
              </a:rPr>
              <a:t>Modality Availability Gate: </a:t>
            </a:r>
            <a:r>
              <a:rPr sz="1000">
                <a:solidFill>
                  <a:srgbClr val="334155"/>
                </a:solidFill>
                <a:latin typeface="Arial"/>
              </a:rPr>
              <a:t>A_m in {0, 1}. Modality m is eligible if and only if available==True and status=='ok'.</a:t>
            </a:r>
            <a:r>
              <a:rPr sz="1000" b="1">
                <a:solidFill>
                  <a:srgbClr val="0F172A"/>
                </a:solidFill>
                <a:latin typeface="Arial"/>
              </a:rPr>
              <a:t>Fused Probability Synthesis: </a:t>
            </a:r>
            <a:r>
              <a:rPr sz="1000">
                <a:solidFill>
                  <a:srgbClr val="334155"/>
                </a:solidFill>
                <a:latin typeface="Arial"/>
              </a:rPr>
              <a:t>Weighted linear combination across active modalities: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Effective Weight Calculation: </a:t>
            </a:r>
            <a:r>
              <a:rPr sz="1000">
                <a:solidFill>
                  <a:srgbClr val="334155"/>
                </a:solidFill>
                <a:latin typeface="Arial"/>
              </a:rPr>
              <a:t>Combines configured prior weight W_m and neural model confidence C_m:</a:t>
            </a:r>
          </a:p>
          <a:p>
            <a:pPr>
              <a:spcBef>
                <a:spcPts val="400"/>
              </a:spcBef>
              <a:defRPr sz="1100" b="1">
                <a:solidFill>
                  <a:srgbClr val="2563EB"/>
                </a:solidFill>
                <a:latin typeface="Consolas"/>
              </a:defRPr>
            </a:pPr>
            <a:r>
              <a:t>  w_tilde_m = W_m · max(0.0001, C_m)</a:t>
            </a:r>
            <a:br/>
            <a:r>
              <a:t>  w_m = w_tilde_m / Σ w_tilde_k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Consolas"/>
              </a:defRPr>
            </a:pPr>
            <a:r>
              <a:t>  P_fused(e) = Σ w_m · P_m(e), ∀ e ∈ Ekman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Core Fusion Invariants</a:t>
            </a:r>
            <a:r>
              <a:rPr sz="1000" b="1">
                <a:solidFill>
                  <a:srgbClr val="0F172A"/>
                </a:solidFill>
                <a:latin typeface="Arial"/>
              </a:rPr>
              <a:t>Dynamic Confidence Scaling: </a:t>
            </a:r>
            <a:r>
              <a:rPr sz="1000">
                <a:solidFill>
                  <a:srgbClr val="334155"/>
                </a:solidFill>
                <a:latin typeface="Arial"/>
              </a:rPr>
              <a:t>A modality with high epistemic confidence (e.g. text=0.95) naturally outweighs a noisy, uncertain channel (e.g. audio=0.35).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Prior Weight Overrides: </a:t>
            </a:r>
            <a:r>
              <a:rPr sz="1000">
                <a:solidFill>
                  <a:srgbClr val="334155"/>
                </a:solidFill>
                <a:latin typeface="Arial"/>
              </a:rPr>
              <a:t>Admins can configure modality priors W_text, W_audio, W_vision to reflect application context.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Strict Normalization: </a:t>
            </a:r>
            <a:r>
              <a:rPr sz="1000">
                <a:solidFill>
                  <a:srgbClr val="334155"/>
                </a:solidFill>
                <a:latin typeface="Arial"/>
              </a:rPr>
              <a:t>Probability distribution is re-normalized to guarantee exact sum = 1.0000 with zero floating-point drift.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Zero-Mass Preservation: </a:t>
            </a:r>
            <a:r>
              <a:rPr sz="1000">
                <a:solidFill>
                  <a:srgbClr val="334155"/>
                </a:solidFill>
                <a:latin typeface="Arial"/>
              </a:rPr>
              <a:t>Classes unsupported by audio (disgust, fear, surprise) inherit probabilities solely from text and vision.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8. DECISION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Cross-Modal Concordance &amp; Conflict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Quantifying emotional discordance, affective conflict, and synthesizing explainability rationales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8. Decision Fusion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Concordance &amp; Conflict Mathematics</a:t>
            </a:r>
            <a:r>
              <a:rPr sz="1000" b="1">
                <a:solidFill>
                  <a:srgbClr val="0F172A"/>
                </a:solidFill>
                <a:latin typeface="Arial"/>
              </a:rPr>
              <a:t>Pairwise Cosine Similarity: </a:t>
            </a:r>
            <a:r>
              <a:rPr sz="1000">
                <a:solidFill>
                  <a:srgbClr val="334155"/>
                </a:solidFill>
                <a:latin typeface="Arial"/>
              </a:rPr>
              <a:t>Evaluates alignment between probability vectors P_1 and P_2 across all active pairs:</a:t>
            </a:r>
            <a:r>
              <a:rPr sz="1000" b="1">
                <a:solidFill>
                  <a:srgbClr val="0F172A"/>
                </a:solidFill>
                <a:latin typeface="Arial"/>
              </a:rPr>
              <a:t>Conflict Threshold (θ = 0.40): </a:t>
            </a:r>
            <a:r>
              <a:rPr sz="1000">
                <a:solidFill>
                  <a:srgbClr val="334155"/>
                </a:solidFill>
                <a:latin typeface="Arial"/>
              </a:rPr>
              <a:t>If ConflictScore &gt;= 0.40 or if top emotions diverge, has_conflict is flagged True.</a:t>
            </a:r>
          </a:p>
          <a:p>
            <a:pPr>
              <a:spcBef>
                <a:spcPts val="400"/>
              </a:spcBef>
              <a:defRPr sz="1050" b="1">
                <a:solidFill>
                  <a:srgbClr val="2563EB"/>
                </a:solidFill>
                <a:latin typeface="Consolas"/>
              </a:defRPr>
            </a:pPr>
            <a:r>
              <a:t>  Sim(P_1, P_2) = (P_1 · P_2) / (||P_1||_2 · ||P_2||_2)</a:t>
            </a:r>
            <a:br/>
            <a:br/>
            <a:r>
              <a:t>  ConcordanceScore = mean(Sim(P_i, P_j))</a:t>
            </a:r>
            <a:br/>
            <a:r>
              <a:t>  ConflictScore = 1.0 - ConcordanceScore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Divergent Pair Isolation: </a:t>
            </a:r>
            <a:r>
              <a:rPr sz="1000">
                <a:solidFill>
                  <a:srgbClr val="334155"/>
                </a:solidFill>
                <a:latin typeface="Arial"/>
              </a:rPr>
              <a:t>Identifies exact opposing channels (e.g. text: happy vs audio: sad).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D9488"/>
                </a:solidFill>
                <a:latin typeface="Arial"/>
              </a:defRPr>
            </a:pPr>
            <a:r>
              <a:t>Explainability &amp; Attribution Engine</a:t>
            </a:r>
            <a:r>
              <a:rPr sz="1000" b="1">
                <a:solidFill>
                  <a:srgbClr val="0F172A"/>
                </a:solidFill>
                <a:latin typeface="Arial"/>
              </a:rPr>
              <a:t>Primary Modality Identification: </a:t>
            </a:r>
            <a:r>
              <a:rPr sz="1000">
                <a:solidFill>
                  <a:srgbClr val="334155"/>
                </a:solidFill>
                <a:latin typeface="Arial"/>
              </a:rPr>
              <a:t>Identifies which sensory channel exerted the highest mathematical influence on the final result.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Natural Language Rationale: </a:t>
            </a:r>
            <a:r>
              <a:rPr sz="1000">
                <a:solidFill>
                  <a:srgbClr val="334155"/>
                </a:solidFill>
                <a:latin typeface="Arial"/>
              </a:rPr>
              <a:t>Synthesizes human-readable explanations summarizing the decision driver and confidence breakdown.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Salient Feature Attribution: </a:t>
            </a:r>
            <a:r>
              <a:rPr sz="1000">
                <a:solidFill>
                  <a:srgbClr val="334155"/>
                </a:solidFill>
                <a:latin typeface="Arial"/>
              </a:rPr>
              <a:t>Passes through text keywords (e.g. 'furious'), vocal pitch/energy, and facial box geometry.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Clinical Non-Judgment: </a:t>
            </a:r>
            <a:r>
              <a:rPr sz="1000">
                <a:solidFill>
                  <a:srgbClr val="334155"/>
                </a:solidFill>
                <a:latin typeface="Arial"/>
              </a:rPr>
              <a:t>Phrases conflicts objectively without psychological speculation or deception accusation.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8. DECISION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Comprehensive Modality Permutations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Verified deterministic operation across all 2^3 - 1 = 7 active sensory combinations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8. Decision Fusion  |  Technical Architecture Manual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1645920"/>
                <a:gridCol w="3017520"/>
                <a:gridCol w="2773375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Permutation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Active Modalities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Fusion Mode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Weight Attribution Dynamics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Concordance Behavior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 Text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single_modality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w_text = 1.00 (Single channel bypass)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Concordance = 1.0000 (N/A)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 Audio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single_modality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w_audio = 1.00 (Single channel bypass)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Concordance = 1.0000 (N/A)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 Vision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single_modality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w_vision = 1.00 (Single channel bypass)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Concordance = 1.0000 (N/A)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 Text + Audio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Text, Audio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multimodal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w_m = W_m * C_m / (W_t*C_t + W_a*C_a)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Pairwise cosine similarity: Text vs Audio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 Text + 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Text, 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multimodal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w_m = W_m * C_m / (W_t*C_t + W_v*C_v)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Pairwise cosine similarity: Text vs 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6. Audio + Vision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Audio, Vision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multimodal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w_m = W_m * C_m / (W_a*C_a + W_v*C_v)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Pairwise cosine similarity: Audio vs Vision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7. Tri-Modal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Text, Audio, 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multimodal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Tri-channel confidence-adjusted weights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Mean across all 3 pairwise comparisons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9. BACKEND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FastAPI Service Architecture &amp; REST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Asynchronous ASGI service with singleton lifecycle caching, input sanitization, and typed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9. Backend API  |  Technical Architecture Manual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645920"/>
                <a:gridCol w="1005840"/>
                <a:gridCol w="3687775"/>
              </a:tblGrid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HTTP Method &amp; Route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 Payload / Format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Response Model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Latency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Functional Scope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GET /api/health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HealthStatus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&lt; 2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Returns service readiness, active compute device, and model states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 /api/predict/text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JSON: {'text': string}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ModalityResult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15–35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DistilRoBERTa NLP classification, keyword extraction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 /api/predict/audio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Multipart file (WAV/MP3 &lt;= 25MB)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ModalityResult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40–90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Acoustic 2D CNN inference over 39-channel MFCCs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 /api/predict/vision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Multipart file (JPG/PNG &lt;= 10MB)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ModalityResult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30–60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Multi-pass Haar face detection and AlexNet classification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 /api/predict/multimodal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Multipart: text, audio file, image 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FusedEmotionResult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60–120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Full multi-modal late decision fusion across uploaded 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 /api/predict/fuse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JSON: {'results': {modality: ModalityResult}}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FusedEmotionResult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&lt; 5 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Real-time pre-evaluated fusion for live streaming UI coordinators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10. FRONTEND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React 19 + TypeScript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Real-time glassmorphic dashboard with Web Audio API waveform visualizer and reactive 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10. Frontend UI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Reactive Stream Hooks</a:t>
            </a:r>
            <a:r>
              <a:rPr sz="1000" b="1">
                <a:solidFill>
                  <a:srgbClr val="0F172A"/>
                </a:solidFill>
                <a:latin typeface="Arial"/>
              </a:rPr>
              <a:t>useLiveText: </a:t>
            </a:r>
            <a:r>
              <a:rPr sz="1000">
                <a:solidFill>
                  <a:srgbClr val="334155"/>
                </a:solidFill>
                <a:latin typeface="Arial"/>
              </a:rPr>
              <a:t>Debounced text classifier with sample presets and cancellation.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useLiveAudio: </a:t>
            </a:r>
            <a:r>
              <a:rPr sz="1000">
                <a:solidFill>
                  <a:srgbClr val="334155"/>
                </a:solidFill>
                <a:latin typeface="Arial"/>
              </a:rPr>
              <a:t>Web Audio API AudioContext + AnalyserNode capturing mic stream, computing volume RMS, and audio FFT waveforms.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useLiveWebcam: </a:t>
            </a:r>
            <a:r>
              <a:rPr sz="1000">
                <a:solidFill>
                  <a:srgbClr val="334155"/>
                </a:solidFill>
                <a:latin typeface="Arial"/>
              </a:rPr>
              <a:t>HTML5 video stream capture, hidden canvas frame extraction, face presence gating.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useLiveFusionCoordinator: </a:t>
            </a:r>
            <a:r>
              <a:rPr sz="1000">
                <a:solidFill>
                  <a:srgbClr val="334155"/>
                </a:solidFill>
                <a:latin typeface="Arial"/>
              </a:rPr>
              <a:t>Aggregates streaming outputs, requesting low-latency fusion via /api/predict/fuse.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Interactive Components</a:t>
            </a:r>
            <a:r>
              <a:rPr sz="1000" b="1">
                <a:solidFill>
                  <a:srgbClr val="0F172A"/>
                </a:solidFill>
                <a:latin typeface="Arial"/>
              </a:rPr>
              <a:t>UnifiedEmotionOutput: </a:t>
            </a:r>
            <a:r>
              <a:rPr sz="1000">
                <a:solidFill>
                  <a:srgbClr val="334155"/>
                </a:solidFill>
                <a:latin typeface="Arial"/>
              </a:rPr>
              <a:t>Large dominant emotion badge, confidence gauge, and Circumplex plot.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ProbabilityChart: </a:t>
            </a:r>
            <a:r>
              <a:rPr sz="1000">
                <a:solidFill>
                  <a:srgbClr val="334155"/>
                </a:solidFill>
                <a:latin typeface="Arial"/>
              </a:rPr>
              <a:t>Animated 7-class probability bar graphs with emotion-coded hues.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ModalityContributionPanel: </a:t>
            </a:r>
            <a:r>
              <a:rPr sz="1000">
                <a:solidFill>
                  <a:srgbClr val="334155"/>
                </a:solidFill>
                <a:latin typeface="Arial"/>
              </a:rPr>
              <a:t>Visual proportional weight allocation bars (w_m).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ConflictPanel: </a:t>
            </a:r>
            <a:r>
              <a:rPr sz="1000">
                <a:solidFill>
                  <a:srgbClr val="334155"/>
                </a:solidFill>
                <a:latin typeface="Arial"/>
              </a:rPr>
              <a:t>Cross-modal divergence monitor with concordance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Design &amp; Aesthetics</a:t>
            </a:r>
            <a:r>
              <a:rPr sz="1000" b="1">
                <a:solidFill>
                  <a:srgbClr val="0F172A"/>
                </a:solidFill>
                <a:latin typeface="Arial"/>
              </a:rPr>
              <a:t>Glassmorphism: </a:t>
            </a:r>
            <a:r>
              <a:rPr sz="1000">
                <a:solidFill>
                  <a:srgbClr val="334155"/>
                </a:solidFill>
                <a:latin typeface="Arial"/>
              </a:rPr>
              <a:t>Modern translucent cards with subtle borders and blurred backdrops.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Vanilla CSS System: </a:t>
            </a:r>
            <a:r>
              <a:rPr sz="1000">
                <a:solidFill>
                  <a:srgbClr val="334155"/>
                </a:solidFill>
                <a:latin typeface="Arial"/>
              </a:rPr>
              <a:t>Ultra-fast rendering without heavyweight UI framework overhead.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Responsive Grid: </a:t>
            </a:r>
            <a:r>
              <a:rPr sz="1000">
                <a:solidFill>
                  <a:srgbClr val="334155"/>
                </a:solidFill>
                <a:latin typeface="Arial"/>
              </a:rPr>
              <a:t>Adapts seamlessly from desktop monitors to mobile viewports.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Manual Drawer: </a:t>
            </a:r>
            <a:r>
              <a:rPr sz="1000">
                <a:solidFill>
                  <a:srgbClr val="334155"/>
                </a:solidFill>
                <a:latin typeface="Arial"/>
              </a:rPr>
              <a:t>Drag-and-drop file upload drawer for static testing.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11. NATIVE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Standalone Native Real-Time Programs (CLI / GUI)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Zero-dependency desktop execution tools for ultra-low latency edge monitoring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11. Native Programs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live_face.py: OpenCV Webcam HUD</a:t>
            </a:r>
            <a:r>
              <a:rPr sz="1000" b="1">
                <a:solidFill>
                  <a:srgbClr val="0F172A"/>
                </a:solidFill>
                <a:latin typeface="Arial"/>
              </a:rPr>
              <a:t>Native OpenCV Window: </a:t>
            </a:r>
            <a:r>
              <a:rPr sz="1000">
                <a:solidFill>
                  <a:srgbClr val="334155"/>
                </a:solidFill>
                <a:latin typeface="Arial"/>
              </a:rPr>
              <a:t>Direct desktop video rendering bypassing browser layers.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Decoupled Loop: </a:t>
            </a:r>
            <a:r>
              <a:rPr sz="1000">
                <a:solidFill>
                  <a:srgbClr val="334155"/>
                </a:solidFill>
                <a:latin typeface="Arial"/>
              </a:rPr>
              <a:t>30 FPS smooth rendering + 3.5 FPS throttled inference.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Dynamic Bounding Boxes: </a:t>
            </a:r>
            <a:r>
              <a:rPr sz="1000">
                <a:solidFill>
                  <a:srgbClr val="334155"/>
                </a:solidFill>
                <a:latin typeface="Arial"/>
              </a:rPr>
              <a:t>Emotion-colored visual tracking overlays.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Probability Bar HUD: </a:t>
            </a:r>
            <a:r>
              <a:rPr sz="1000">
                <a:solidFill>
                  <a:srgbClr val="334155"/>
                </a:solidFill>
                <a:latin typeface="Arial"/>
              </a:rPr>
              <a:t>Renders live 7-class probability meters on screen.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CLI Options: </a:t>
            </a:r>
            <a:r>
              <a:rPr sz="1000">
                <a:solidFill>
                  <a:srgbClr val="334155"/>
                </a:solidFill>
                <a:latin typeface="Arial"/>
              </a:rPr>
              <a:t>--camera-id, --fps, --weights, --device, --duration.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live_audio.py: Native Speech Classifier</a:t>
            </a:r>
            <a:r>
              <a:rPr sz="1000" b="1">
                <a:solidFill>
                  <a:srgbClr val="0F172A"/>
                </a:solidFill>
                <a:latin typeface="Arial"/>
              </a:rPr>
              <a:t>SoundDevice Streaming: </a:t>
            </a:r>
            <a:r>
              <a:rPr sz="1000">
                <a:solidFill>
                  <a:srgbClr val="334155"/>
                </a:solidFill>
                <a:latin typeface="Arial"/>
              </a:rPr>
              <a:t>Non-blocking microphone capture with NumPy circular buffer.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Sliding Window Analysis: </a:t>
            </a:r>
            <a:r>
              <a:rPr sz="1000">
                <a:solidFill>
                  <a:srgbClr val="334155"/>
                </a:solidFill>
                <a:latin typeface="Arial"/>
              </a:rPr>
              <a:t>2.0s audio buffer window evaluated at 1.0s step intervals.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Silence Thresholding: </a:t>
            </a:r>
            <a:r>
              <a:rPr sz="1000">
                <a:solidFill>
                  <a:srgbClr val="334155"/>
                </a:solidFill>
                <a:latin typeface="Arial"/>
              </a:rPr>
              <a:t>RMS energy gating ignores background room noise.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Terminal Output: </a:t>
            </a:r>
            <a:r>
              <a:rPr sz="1000">
                <a:solidFill>
                  <a:srgbClr val="334155"/>
                </a:solidFill>
                <a:latin typeface="Arial"/>
              </a:rPr>
              <a:t>Real-time ASCII probability bars and predictions in console.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CLI Options: </a:t>
            </a:r>
            <a:r>
              <a:rPr sz="1000">
                <a:solidFill>
                  <a:srgbClr val="334155"/>
                </a:solidFill>
                <a:latin typeface="Arial"/>
              </a:rPr>
              <a:t>--device-index, --window, --step, --threshold.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4592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live_text.py: Interactive Terminal REPL</a:t>
            </a:r>
            <a:r>
              <a:rPr sz="1000" b="1">
                <a:solidFill>
                  <a:srgbClr val="0F172A"/>
                </a:solidFill>
                <a:latin typeface="Arial"/>
              </a:rPr>
              <a:t>Interactive REPL: </a:t>
            </a:r>
            <a:r>
              <a:rPr sz="1000">
                <a:solidFill>
                  <a:srgbClr val="334155"/>
                </a:solidFill>
                <a:latin typeface="Arial"/>
              </a:rPr>
              <a:t>Instant text emotion classification from terminal prompt.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Transformer Inference: </a:t>
            </a:r>
            <a:r>
              <a:rPr sz="1000">
                <a:solidFill>
                  <a:srgbClr val="334155"/>
                </a:solidFill>
                <a:latin typeface="Arial"/>
              </a:rPr>
              <a:t>Direct RoBERTa PyTorch forward pass.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Colored Probability Bars: </a:t>
            </a:r>
            <a:r>
              <a:rPr sz="1000">
                <a:solidFill>
                  <a:srgbClr val="334155"/>
                </a:solidFill>
                <a:latin typeface="Arial"/>
              </a:rPr>
              <a:t>Formatted terminal visualizer for all 7 classes.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Circumplex Telemetry: </a:t>
            </a:r>
            <a:r>
              <a:rPr sz="1000">
                <a:solidFill>
                  <a:srgbClr val="334155"/>
                </a:solidFill>
                <a:latin typeface="Arial"/>
              </a:rPr>
              <a:t>Outputs Valence and Arousal coordinates.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Commands: </a:t>
            </a:r>
            <a:r>
              <a:rPr sz="1000">
                <a:solidFill>
                  <a:srgbClr val="334155"/>
                </a:solidFill>
                <a:latin typeface="Arial"/>
              </a:rPr>
              <a:t>'exit', 'quit', 'clear' screen commands.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12.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Quality Assurance, Testing &amp; Privacy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Rigorous automated test coverage and enterprise data protection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12. Quality Assurance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t>Automated Test Matrix: 100% Passing</a:t>
            </a:r>
            <a:r>
              <a:rPr sz="1000" b="1">
                <a:solidFill>
                  <a:srgbClr val="0F172A"/>
                </a:solidFill>
                <a:latin typeface="Arial"/>
              </a:rPr>
              <a:t>PyTest Backend Suite (21 / 21 Passing): </a:t>
            </a:r>
            <a:r>
              <a:rPr sz="1000">
                <a:solidFill>
                  <a:srgbClr val="334155"/>
                </a:solidFill>
                <a:latin typeface="Arial"/>
              </a:rPr>
              <a:t>Comprehensive coverage in tests/test_api.py and test_fusion.py.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Endpoint Integration: </a:t>
            </a:r>
            <a:r>
              <a:rPr sz="1000">
                <a:solidFill>
                  <a:srgbClr val="334155"/>
                </a:solidFill>
                <a:latin typeface="Arial"/>
              </a:rPr>
              <a:t>Validates health, text, audio, vision, and multimodal HTTP responses.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Fusion Mathematical Invariants: </a:t>
            </a:r>
            <a:r>
              <a:rPr sz="1000">
                <a:solidFill>
                  <a:srgbClr val="334155"/>
                </a:solidFill>
                <a:latin typeface="Arial"/>
              </a:rPr>
              <a:t>Verifies probability sums = 1.0, zero-mass handling, and all 7 modality permutations.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Boundary &amp; Security Checks: </a:t>
            </a:r>
            <a:r>
              <a:rPr sz="1000">
                <a:solidFill>
                  <a:srgbClr val="334155"/>
                </a:solidFill>
                <a:latin typeface="Arial"/>
              </a:rPr>
              <a:t>Tests 413 file size limits, 415 extension blocks, and path redaction.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Vitest Frontend Suite (16 / 16 Passing): </a:t>
            </a:r>
            <a:r>
              <a:rPr sz="1000">
                <a:solidFill>
                  <a:srgbClr val="334155"/>
                </a:solidFill>
                <a:latin typeface="Arial"/>
              </a:rPr>
              <a:t>Validates component rendering, API service error handling, and audio visualizer fallbacks.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Enterprise Privacy &amp; Data Sanitization</a:t>
            </a:r>
            <a:r>
              <a:rPr sz="1000" b="1">
                <a:solidFill>
                  <a:srgbClr val="0F172A"/>
                </a:solidFill>
                <a:latin typeface="Arial"/>
              </a:rPr>
              <a:t>100% Local Inference: </a:t>
            </a:r>
            <a:r>
              <a:rPr sz="1000">
                <a:solidFill>
                  <a:srgbClr val="334155"/>
                </a:solidFill>
                <a:latin typeface="Arial"/>
              </a:rPr>
              <a:t>Zero audio waveforms, facial images, or text queries are transmitted to external cloud APIs or third parties.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Zero Telemetry: </a:t>
            </a:r>
            <a:r>
              <a:rPr sz="1000">
                <a:solidFill>
                  <a:srgbClr val="334155"/>
                </a:solidFill>
                <a:latin typeface="Arial"/>
              </a:rPr>
              <a:t>Contains zero Google Analytics, tracking beacons, or remote telemetry scripts.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Ephemeral File Lifecycle: </a:t>
            </a:r>
            <a:r>
              <a:rPr sz="1000">
                <a:solidFill>
                  <a:srgbClr val="334155"/>
                </a:solidFill>
                <a:latin typeface="Arial"/>
              </a:rPr>
              <a:t>Multipart uploads are written to system temp folders and strictly unlinked in finally blocks.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Path Redaction: </a:t>
            </a:r>
            <a:r>
              <a:rPr sz="1000">
                <a:solidFill>
                  <a:srgbClr val="334155"/>
                </a:solidFill>
                <a:latin typeface="Arial"/>
              </a:rPr>
              <a:t>API responses recursively strip internal filesystem paths to prevent host environment disclosure.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14. OPERATIONS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Deployment Guide, Ethical Boundaries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Operational instructions, non-clinical research boundaries, and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Multi-Modal Emotion Recognition Platform (ERM)  |  14. Operations &amp; Roadmap  |  Technical Architecture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Quickstart Operational Runbook</a:t>
            </a:r>
            <a:r>
              <a:rPr sz="1000" b="1">
                <a:solidFill>
                  <a:srgbClr val="0F172A"/>
                </a:solidFill>
                <a:latin typeface="Arial"/>
              </a:rPr>
              <a:t>Prerequisites: </a:t>
            </a:r>
            <a:r>
              <a:rPr sz="1000">
                <a:solidFill>
                  <a:srgbClr val="334155"/>
                </a:solidFill>
                <a:latin typeface="Arial"/>
              </a:rPr>
              <a:t>Windows 10/11 64-bit, Python 3.10-3.14, Node.js &gt;= 18.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1. Backend Launch: </a:t>
            </a:r>
            <a:r>
              <a:rPr sz="1000">
                <a:solidFill>
                  <a:srgbClr val="334155"/>
                </a:solidFill>
                <a:latin typeface="Arial"/>
              </a:rPr>
              <a:t>uvicorn api.main:app --host 127.0.0.1 --port 8000 --reload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2. Frontend Launch: </a:t>
            </a:r>
            <a:r>
              <a:rPr sz="1000">
                <a:solidFill>
                  <a:srgbClr val="334155"/>
                </a:solidFill>
                <a:latin typeface="Arial"/>
              </a:rPr>
              <a:t>cd frontend &amp;&amp; npm run dev (http://127.0.0.1:5173)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3. Interactive Docs: </a:t>
            </a:r>
            <a:r>
              <a:rPr sz="1000">
                <a:solidFill>
                  <a:srgbClr val="334155"/>
                </a:solidFill>
                <a:latin typeface="Arial"/>
              </a:rPr>
              <a:t>Swagger UI available at http://127.0.0.1:8000/api/docs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4. Native Live Tools: </a:t>
            </a:r>
            <a:r>
              <a:rPr sz="1000">
                <a:solidFill>
                  <a:srgbClr val="334155"/>
                </a:solidFill>
                <a:latin typeface="Arial"/>
              </a:rPr>
              <a:t>python live_face.py | python live_audio.py | python live_text.py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Ethical Boundaries &amp; Technical Roadmap</a:t>
            </a:r>
            <a:r>
              <a:rPr sz="1000" b="1">
                <a:solidFill>
                  <a:srgbClr val="0F172A"/>
                </a:solidFill>
                <a:latin typeface="Arial"/>
              </a:rPr>
              <a:t>Non-Clinical Disclaimer: </a:t>
            </a:r>
            <a:r>
              <a:rPr sz="1000">
                <a:solidFill>
                  <a:srgbClr val="334155"/>
                </a:solidFill>
                <a:latin typeface="Arial"/>
              </a:rPr>
              <a:t>Designed for HCI research. Measures behavioral correlates, NOT psychological truth, psychiatric conditions, or deception.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Wav2Vec2 Full Speech Model: </a:t>
            </a:r>
            <a:r>
              <a:rPr sz="1000">
                <a:solidFill>
                  <a:srgbClr val="334155"/>
                </a:solidFill>
                <a:latin typeface="Arial"/>
              </a:rPr>
              <a:t>Fine-tuning self-supervised acoustic transformers to expand audio recognition to all 7 Ekman classes.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Temporal Video Transformers: </a:t>
            </a:r>
            <a:r>
              <a:rPr sz="1000">
                <a:solidFill>
                  <a:srgbClr val="334155"/>
                </a:solidFill>
                <a:latin typeface="Arial"/>
              </a:rPr>
              <a:t>Incorporating multi-frame temporal recurrence to capture micro-expressions across multi-minute conversations.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MediaPipe Face Mesh (FACS): </a:t>
            </a:r>
            <a:r>
              <a:rPr sz="1000">
                <a:solidFill>
                  <a:srgbClr val="334155"/>
                </a:solidFill>
                <a:latin typeface="Arial"/>
              </a:rPr>
              <a:t>Extracting 468 landmarks for facial action unit quantification.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